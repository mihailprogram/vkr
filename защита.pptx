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6.jpeg" ContentType="image/jpeg"/>
  <Override PartName="/ppt/media/image28.png" ContentType="image/png"/>
  <Override PartName="/ppt/media/image11.png" ContentType="image/png"/>
  <Override PartName="/ppt/media/image36.png" ContentType="image/png"/>
  <Override PartName="/ppt/media/image4.png" ContentType="image/png"/>
  <Override PartName="/ppt/media/image10.png" ContentType="image/png"/>
  <Override PartName="/ppt/media/image35.png" ContentType="image/png"/>
  <Override PartName="/ppt/media/image3.png" ContentType="image/png"/>
  <Override PartName="/ppt/media/image1.png" ContentType="image/png"/>
  <Override PartName="/ppt/media/image2.png" ContentType="image/png"/>
  <Override PartName="/ppt/media/image6.png" ContentType="image/png"/>
  <Override PartName="/ppt/media/image12.png" ContentType="image/png"/>
  <Override PartName="/ppt/media/image37.png" ContentType="image/png"/>
  <Override PartName="/ppt/media/image9.png" ContentType="image/png"/>
  <Override PartName="/ppt/media/image14.png" ContentType="image/png"/>
  <Override PartName="/ppt/media/image8.png" ContentType="image/png"/>
  <Override PartName="/ppt/media/image7.png" ContentType="image/png"/>
  <Override PartName="/ppt/media/image13.png" ContentType="image/png"/>
  <Override PartName="/ppt/media/image5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15.jpeg" ContentType="image/jpeg"/>
  <Override PartName="/ppt/media/image18.png" ContentType="image/png"/>
  <Override PartName="/ppt/media/image24.png" ContentType="image/png"/>
  <Override PartName="/ppt/media/hdphoto1.wdp" ContentType="image/vnd.ms-photo"/>
  <Override PartName="/ppt/media/image25.png" ContentType="image/png"/>
  <Override PartName="/ppt/media/hdphoto2.wdp" ContentType="image/vnd.ms-photo"/>
  <Override PartName="/ppt/presentation.xml" ContentType="application/vnd.openxmlformats-officedocument.presentationml.presentation.main+xml"/>
  <Override PartName="/ppt/slides/_rels/slide3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25.xml.rels" ContentType="application/vnd.openxmlformats-package.relationships+xml"/>
  <Override PartName="/ppt/slides/_rels/slide1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17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slideLayouts/_rels/slideLayout14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82" r:id="rId5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Relationship Id="rId45" Type="http://schemas.openxmlformats.org/officeDocument/2006/relationships/slide" Target="slides/slide21.xml"/><Relationship Id="rId46" Type="http://schemas.openxmlformats.org/officeDocument/2006/relationships/slide" Target="slides/slide22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361153-EE73-4254-A7C2-C05924A496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63493C-ADE9-4143-999C-F565D03F80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5D5815-C3AC-4D0B-B1D2-877B42499B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6F7F4C2-5E72-4D5A-9692-AA0FE6056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0647EFE-4A6A-4AB1-9539-AB55EFF7B3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15CE85D-31CB-4D2C-836C-3D388764AB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FECE6C9-EBCE-46D1-BF6D-6FF1906707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6B7633C-3F04-44D1-AF83-40B453D33C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88F469B-6BE9-4197-945B-71DF5F4514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46323AC-7F5C-4CE7-B521-81B6B3A8A0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3E8E63C-BA90-48C9-8606-5E3A2EBC0A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2.wdp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98B4249A-3645-4E21-9D99-108B7EE01C54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sp>
        <p:nvSpPr>
          <p:cNvPr id="2" name="Прямоугольник 5"/>
          <p:cNvSpPr/>
          <p:nvPr/>
        </p:nvSpPr>
        <p:spPr>
          <a:xfrm>
            <a:off x="0" y="0"/>
            <a:ext cx="9142560" cy="122256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3" name="Рисунок 7" descr="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0" t="23653" r="0" b="46856"/>
          <a:stretch/>
        </p:blipFill>
        <p:spPr>
          <a:xfrm>
            <a:off x="6030360" y="0"/>
            <a:ext cx="3112200" cy="1222560"/>
          </a:xfrm>
          <a:prstGeom prst="rect">
            <a:avLst/>
          </a:prstGeom>
          <a:ln w="0">
            <a:noFill/>
          </a:ln>
        </p:spPr>
      </p:pic>
      <p:pic>
        <p:nvPicPr>
          <p:cNvPr id="4" name="Рисунок 8" descr=""/>
          <p:cNvPicPr/>
          <p:nvPr/>
        </p:nvPicPr>
        <p:blipFill>
          <a:blip r:embed="rId5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5" name="Рисунок 9" descr=""/>
          <p:cNvPicPr/>
          <p:nvPr/>
        </p:nvPicPr>
        <p:blipFill>
          <a:blip r:embed="rId6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pic>
        <p:nvPicPr>
          <p:cNvPr id="7" name="Рисунок 8" descr="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8" name="Рисунок 9" descr="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pic>
        <p:nvPicPr>
          <p:cNvPr id="9" name="Рисунок 10" descr=""/>
          <p:cNvPicPr/>
          <p:nvPr/>
        </p:nvPicPr>
        <p:blipFill>
          <a:blip r:embed="rId5"/>
          <a:stretch/>
        </p:blipFill>
        <p:spPr>
          <a:xfrm>
            <a:off x="7488720" y="170280"/>
            <a:ext cx="1240560" cy="881640"/>
          </a:xfrm>
          <a:prstGeom prst="rect">
            <a:avLst/>
          </a:prstGeom>
          <a:ln w="0">
            <a:noFill/>
          </a:ln>
        </p:spPr>
      </p:pic>
      <p:sp>
        <p:nvSpPr>
          <p:cNvPr id="1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8F2EE39A-B64F-44BF-826A-78E788197919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1"/>
          <p:cNvSpPr/>
          <p:nvPr/>
        </p:nvSpPr>
        <p:spPr>
          <a:xfrm>
            <a:off x="0" y="0"/>
            <a:ext cx="9142560" cy="122256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" name="Рисунок 16" descr=""/>
          <p:cNvPicPr/>
          <p:nvPr/>
        </p:nvPicPr>
        <p:blipFill>
          <a:blip r:embed="rId2"/>
          <a:stretch/>
        </p:blipFill>
        <p:spPr>
          <a:xfrm>
            <a:off x="7494480" y="170280"/>
            <a:ext cx="1240560" cy="881640"/>
          </a:xfrm>
          <a:prstGeom prst="rect">
            <a:avLst/>
          </a:prstGeom>
          <a:ln w="0">
            <a:noFill/>
          </a:ln>
        </p:spPr>
      </p:pic>
      <p:pic>
        <p:nvPicPr>
          <p:cNvPr id="13" name="Рисунок 4" descr="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pic>
        <p:nvPicPr>
          <p:cNvPr id="14" name="Рисунок 8" descr=""/>
          <p:cNvPicPr/>
          <p:nvPr/>
        </p:nvPicPr>
        <p:blipFill>
          <a:blip r:embed="rId4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15" name="Рисунок 9" descr=""/>
          <p:cNvPicPr/>
          <p:nvPr/>
        </p:nvPicPr>
        <p:blipFill>
          <a:blip r:embed="rId5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sp>
        <p:nvSpPr>
          <p:cNvPr id="16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258C71AD-01A9-403C-84B5-5775E34E3D48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pic>
        <p:nvPicPr>
          <p:cNvPr id="18" name="Рисунок 8" descr="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19" name="Рисунок 9" descr="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pic>
        <p:nvPicPr>
          <p:cNvPr id="20" name="Рисунок 1" descr=""/>
          <p:cNvPicPr/>
          <p:nvPr/>
        </p:nvPicPr>
        <p:blipFill>
          <a:blip r:embed="rId5"/>
          <a:stretch/>
        </p:blipFill>
        <p:spPr>
          <a:xfrm>
            <a:off x="7144560" y="-135360"/>
            <a:ext cx="1780560" cy="1510560"/>
          </a:xfrm>
          <a:prstGeom prst="rect">
            <a:avLst/>
          </a:prstGeom>
          <a:ln w="0">
            <a:noFill/>
          </a:ln>
        </p:spPr>
      </p:pic>
      <p:sp>
        <p:nvSpPr>
          <p:cNvPr id="21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FB73B6AC-7068-4107-86DC-D9B856F95B2A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11"/>
          <p:cNvSpPr/>
          <p:nvPr/>
        </p:nvSpPr>
        <p:spPr>
          <a:xfrm>
            <a:off x="0" y="0"/>
            <a:ext cx="9142560" cy="122256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pic>
        <p:nvPicPr>
          <p:cNvPr id="24" name="Рисунок 8" descr="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25" name="Рисунок 9" descr="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pic>
        <p:nvPicPr>
          <p:cNvPr id="26" name="Рисунок 2" descr=""/>
          <p:cNvPicPr/>
          <p:nvPr/>
        </p:nvPicPr>
        <p:blipFill>
          <a:blip r:embed="rId5"/>
          <a:stretch/>
        </p:blipFill>
        <p:spPr>
          <a:xfrm>
            <a:off x="7144560" y="-144000"/>
            <a:ext cx="1780560" cy="1510560"/>
          </a:xfrm>
          <a:prstGeom prst="rect">
            <a:avLst/>
          </a:prstGeom>
          <a:ln w="0">
            <a:noFill/>
          </a:ln>
        </p:spPr>
      </p:pic>
      <p:sp>
        <p:nvSpPr>
          <p:cNvPr id="27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94276EF9-FCE2-4BCB-A48C-4E40EAF47689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1" descr=""/>
          <p:cNvPicPr/>
          <p:nvPr/>
        </p:nvPicPr>
        <p:blipFill>
          <a:blip r:embed="rId2"/>
          <a:stretch/>
        </p:blipFill>
        <p:spPr>
          <a:xfrm>
            <a:off x="5579640" y="2898000"/>
            <a:ext cx="3562920" cy="3958560"/>
          </a:xfrm>
          <a:prstGeom prst="rect">
            <a:avLst/>
          </a:prstGeom>
          <a:ln w="0">
            <a:noFill/>
          </a:ln>
        </p:spPr>
      </p:pic>
      <p:pic>
        <p:nvPicPr>
          <p:cNvPr id="29" name="Рисунок 4" descr=""/>
          <p:cNvPicPr/>
          <p:nvPr/>
        </p:nvPicPr>
        <p:blipFill>
          <a:blip r:embed="rId3"/>
          <a:stretch/>
        </p:blipFill>
        <p:spPr>
          <a:xfrm>
            <a:off x="420120" y="558720"/>
            <a:ext cx="1861560" cy="1654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3" descr=""/>
          <p:cNvPicPr/>
          <p:nvPr/>
        </p:nvPicPr>
        <p:blipFill>
          <a:blip r:embed="rId2"/>
          <a:stretch/>
        </p:blipFill>
        <p:spPr>
          <a:xfrm>
            <a:off x="0" y="1169280"/>
            <a:ext cx="4413960" cy="4087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5" descr=""/>
          <p:cNvPicPr/>
          <p:nvPr/>
        </p:nvPicPr>
        <p:blipFill>
          <a:blip r:embed="rId2"/>
          <a:stretch/>
        </p:blipFill>
        <p:spPr>
          <a:xfrm>
            <a:off x="5579640" y="2898000"/>
            <a:ext cx="3562920" cy="3958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6F1C42-21D7-40E9-9855-FE2C9F19D5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4D0B55-8A3E-4757-A5F6-4A14911AB4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7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825660-9478-441D-B0AC-29CF69CE8D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9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1" descr=""/>
          <p:cNvPicPr/>
          <p:nvPr/>
        </p:nvPicPr>
        <p:blipFill>
          <a:blip r:embed="rId2"/>
          <a:stretch/>
        </p:blipFill>
        <p:spPr>
          <a:xfrm>
            <a:off x="5579640" y="2898000"/>
            <a:ext cx="3562920" cy="3958560"/>
          </a:xfrm>
          <a:prstGeom prst="rect">
            <a:avLst/>
          </a:prstGeom>
          <a:ln w="0">
            <a:noFill/>
          </a:ln>
        </p:spPr>
      </p:pic>
      <p:pic>
        <p:nvPicPr>
          <p:cNvPr id="45" name="Рисунок 4" descr=""/>
          <p:cNvPicPr/>
          <p:nvPr/>
        </p:nvPicPr>
        <p:blipFill>
          <a:blip r:embed="rId3"/>
          <a:stretch/>
        </p:blipFill>
        <p:spPr>
          <a:xfrm>
            <a:off x="420120" y="558720"/>
            <a:ext cx="1861560" cy="165456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3B25A1D3-FAFB-40E8-A767-4823BAAF839C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5"/>
          <p:cNvSpPr/>
          <p:nvPr/>
        </p:nvSpPr>
        <p:spPr>
          <a:xfrm>
            <a:off x="0" y="0"/>
            <a:ext cx="9142560" cy="122256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51" name="Рисунок 7" descr="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0" t="23653" r="0" b="46856"/>
          <a:stretch/>
        </p:blipFill>
        <p:spPr>
          <a:xfrm>
            <a:off x="6030360" y="0"/>
            <a:ext cx="3112200" cy="1222560"/>
          </a:xfrm>
          <a:prstGeom prst="rect">
            <a:avLst/>
          </a:prstGeom>
          <a:ln w="0">
            <a:noFill/>
          </a:ln>
        </p:spPr>
      </p:pic>
      <p:pic>
        <p:nvPicPr>
          <p:cNvPr id="52" name="Рисунок 8" descr=""/>
          <p:cNvPicPr/>
          <p:nvPr/>
        </p:nvPicPr>
        <p:blipFill>
          <a:blip r:embed="rId5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53" name="Рисунок 9" descr=""/>
          <p:cNvPicPr/>
          <p:nvPr/>
        </p:nvPicPr>
        <p:blipFill>
          <a:blip r:embed="rId6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4" descr=""/>
          <p:cNvPicPr/>
          <p:nvPr/>
        </p:nvPicPr>
        <p:blipFill>
          <a:blip r:embed="rId2"/>
          <a:srcRect l="86779" t="32384" r="-4360" b="40678"/>
          <a:stretch/>
        </p:blipFill>
        <p:spPr>
          <a:xfrm>
            <a:off x="0" y="1269720"/>
            <a:ext cx="735480" cy="1504080"/>
          </a:xfrm>
          <a:prstGeom prst="rect">
            <a:avLst/>
          </a:prstGeom>
          <a:ln w="0">
            <a:noFill/>
          </a:ln>
        </p:spPr>
      </p:pic>
      <p:pic>
        <p:nvPicPr>
          <p:cNvPr id="57" name="Рисунок 8" descr="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480" cy="560520"/>
          </a:xfrm>
          <a:prstGeom prst="rect">
            <a:avLst/>
          </a:prstGeom>
          <a:ln w="0">
            <a:noFill/>
          </a:ln>
        </p:spPr>
      </p:pic>
      <p:pic>
        <p:nvPicPr>
          <p:cNvPr id="58" name="Рисунок 9" descr="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840" cy="1286640"/>
          </a:xfrm>
          <a:prstGeom prst="rect">
            <a:avLst/>
          </a:prstGeom>
          <a:ln w="0">
            <a:noFill/>
          </a:ln>
        </p:spPr>
      </p:pic>
      <p:pic>
        <p:nvPicPr>
          <p:cNvPr id="59" name="Рисунок 10" descr=""/>
          <p:cNvPicPr/>
          <p:nvPr/>
        </p:nvPicPr>
        <p:blipFill>
          <a:blip r:embed="rId5"/>
          <a:stretch/>
        </p:blipFill>
        <p:spPr>
          <a:xfrm>
            <a:off x="7488720" y="170280"/>
            <a:ext cx="1240560" cy="881640"/>
          </a:xfrm>
          <a:prstGeom prst="rect">
            <a:avLst/>
          </a:prstGeom>
          <a:ln w="0">
            <a:noFill/>
          </a:ln>
        </p:spPr>
      </p:pic>
      <p:sp>
        <p:nvSpPr>
          <p:cNvPr id="6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fld id="{C82EE5E6-E0A1-434F-AB74-3D421DAA8CEB}" type="slidenum">
              <a:rPr b="0" lang="ru-RU" sz="1400" spc="-1" strike="noStrike">
                <a:solidFill>
                  <a:srgbClr val="8f9092"/>
                </a:solidFill>
                <a:latin typeface="Montserrat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Рисунок 5" descr=""/>
          <p:cNvPicPr/>
          <p:nvPr/>
        </p:nvPicPr>
        <p:blipFill>
          <a:blip r:embed="rId2"/>
          <a:stretch/>
        </p:blipFill>
        <p:spPr>
          <a:xfrm>
            <a:off x="5579640" y="2898000"/>
            <a:ext cx="3562920" cy="395856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10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1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C390B0-7E89-45FB-85E0-70E8E61EF2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dt" idx="12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13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14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A8372A-829F-46BC-A980-5D4F3F7CFB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15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6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7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A58D78-E89A-4ACD-BCF8-E9D7923D12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18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 idx="19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6A87E7-72CE-4EB2-A3EC-F2A9A09C33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21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2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3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845FBC-9FE5-44EE-9B2B-031BDC0629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4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ftr" idx="25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6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82ADCC-A728-461A-B8A6-1F2D7BBB2C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27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28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29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3A889D-7D63-4F48-80B5-CB0C5E5112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30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31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8AB533-FA80-44E7-857E-492B32E3B8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3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eg"/><Relationship Id="rId6" Type="http://schemas.openxmlformats.org/officeDocument/2006/relationships/image" Target="../media/image16.jpeg"/><Relationship Id="rId7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20120" y="5023440"/>
            <a:ext cx="7684920" cy="90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>
                    <a:lumMod val="65000"/>
                  </a:schemeClr>
                </a:solidFill>
                <a:latin typeface="Montserrat"/>
              </a:rPr>
              <a:t>Подготовил: Химач М.Е.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>
                    <a:lumMod val="65000"/>
                  </a:schemeClr>
                </a:solidFill>
                <a:latin typeface="Montserrat"/>
              </a:rPr>
              <a:t>Руководитель: Лебедев Д. С.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5440" y="2278440"/>
            <a:ext cx="9308880" cy="186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0055bb"/>
                </a:solidFill>
                <a:latin typeface="Montserrat"/>
              </a:rPr>
              <a:t>Выпускная квалификационная работа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Текст 12"/>
          <p:cNvSpPr/>
          <p:nvPr/>
        </p:nvSpPr>
        <p:spPr>
          <a:xfrm>
            <a:off x="325440" y="3547080"/>
            <a:ext cx="8817120" cy="15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ru-RU" sz="2400" spc="-1" strike="noStrike">
                <a:solidFill>
                  <a:srgbClr val="0055bb"/>
                </a:solidFill>
                <a:latin typeface="Montserrat"/>
              </a:rPr>
              <a:t>Тема: «</a:t>
            </a:r>
            <a:r>
              <a:rPr b="0" lang="ru-RU" sz="2000" spc="-1" strike="noStrike">
                <a:solidFill>
                  <a:srgbClr val="0055bb"/>
                </a:solidFill>
                <a:latin typeface="Montserrat"/>
              </a:rPr>
              <a:t>Разработка программного модуля для сопровождения ведения журнала учета разрешений замены материала в ИС МКАДД</a:t>
            </a:r>
            <a:r>
              <a:rPr b="1" lang="ru-RU" sz="2400" spc="-1" strike="noStrike">
                <a:solidFill>
                  <a:srgbClr val="0055bb"/>
                </a:solidFill>
                <a:latin typeface="Montserrat"/>
              </a:rPr>
              <a:t>»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880" cy="5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chemeClr val="lt1"/>
                </a:solidFill>
                <a:latin typeface="Montserrat"/>
              </a:rPr>
              <a:t>Объект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32840" y="1729440"/>
            <a:ext cx="8520120" cy="16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dk1"/>
                </a:solidFill>
                <a:latin typeface="Times New Roman"/>
              </a:rPr>
              <a:t>Процесс учета и управления разрешениями на замену материалов в рамках эксплуатации информационной системы МКАДД на предприятии «ФГУП Комбинат «Электрохимприбор».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880" cy="5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chemeClr val="lt1"/>
                </a:solidFill>
                <a:latin typeface="Montserrat"/>
              </a:rPr>
              <a:t>Предмет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201240" y="1729440"/>
            <a:ext cx="8941320" cy="82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dk1"/>
                </a:solidFill>
                <a:latin typeface="Times New Roman"/>
              </a:rPr>
              <a:t>Предметом исследования являются методы и подходы к автоматизации процессов учета разрешений на замену материалов с использованием веб-технологий.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880" cy="5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chemeClr val="lt1"/>
                </a:solidFill>
                <a:latin typeface="Montserrat"/>
              </a:rPr>
              <a:t>Цель и задачи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265680" y="1368720"/>
            <a:ext cx="8876880" cy="107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dk1"/>
                </a:solidFill>
                <a:latin typeface="Times New Roman"/>
              </a:rPr>
              <a:t>Цель: разработка программного модуля, интегрированного с ИС МКАДД, который позволит автоматизировать учет разрешений на замену материалов, обеспечивая импортонезависимость , точность данных и возможность анализа информации.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Текст 5"/>
          <p:cNvSpPr/>
          <p:nvPr/>
        </p:nvSpPr>
        <p:spPr>
          <a:xfrm>
            <a:off x="265680" y="2514240"/>
            <a:ext cx="8157960" cy="19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ru-RU" sz="2600" spc="-1" strike="noStrike">
                <a:solidFill>
                  <a:schemeClr val="dk1"/>
                </a:solidFill>
                <a:latin typeface="Times New Roman"/>
              </a:rPr>
              <a:t>Задачи: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	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Прямоугольник 2"/>
          <p:cNvSpPr/>
          <p:nvPr/>
        </p:nvSpPr>
        <p:spPr>
          <a:xfrm>
            <a:off x="1778040" y="2594160"/>
            <a:ext cx="7292160" cy="38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PT Astra Serif"/>
              </a:rPr>
              <a:t>Провести анализ существующих подходов к ведению учета разрешений на замену материалов и выявить требования к системе;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PT Astra Serif"/>
              </a:rPr>
              <a:t>Изучить существующую на предприятии систему для дальнейшей интеграции и составить модель бизнес-процесса;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PT Astra Serif"/>
              </a:rPr>
              <a:t> </a:t>
            </a: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Проектирование базы данных;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Разработка серверной части приложения;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Разработка клиентской части приложения;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Протестировать программный продукт;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Составить руководство пользователя;</a:t>
            </a: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PT Astra Serif"/>
              </a:rPr>
              <a:t> 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ru-RU" sz="1600" spc="-1" strike="noStrike">
                <a:solidFill>
                  <a:schemeClr val="dk1"/>
                </a:solidFill>
                <a:latin typeface="Times New Roman"/>
                <a:ea typeface="Calibri"/>
              </a:rPr>
              <a:t>Проанализировать эффект от внедрения разработки;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Times New Roman"/>
                <a:ea typeface="Source Han Sans CN Regular"/>
              </a:rPr>
              <a:t> 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Заголовок 2"/>
          <p:cNvSpPr/>
          <p:nvPr/>
        </p:nvSpPr>
        <p:spPr>
          <a:xfrm>
            <a:off x="419760" y="359280"/>
            <a:ext cx="8309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ru-RU" sz="2800" spc="-1" strike="noStrike">
                <a:solidFill>
                  <a:schemeClr val="lt1"/>
                </a:solidFill>
                <a:latin typeface="Montserrat"/>
              </a:rPr>
              <a:t>Стек технологий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360000" y="1931040"/>
            <a:ext cx="2158920" cy="10789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540000" y="3943800"/>
            <a:ext cx="1406160" cy="140616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3"/>
          <a:stretch/>
        </p:blipFill>
        <p:spPr>
          <a:xfrm>
            <a:off x="3600000" y="1800000"/>
            <a:ext cx="2088360" cy="138996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4"/>
          <a:stretch/>
        </p:blipFill>
        <p:spPr>
          <a:xfrm>
            <a:off x="7432200" y="1900800"/>
            <a:ext cx="1386720" cy="110916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5"/>
          <a:srcRect l="19178" t="9085" r="16173" b="9103"/>
          <a:stretch/>
        </p:blipFill>
        <p:spPr>
          <a:xfrm>
            <a:off x="7740000" y="4135680"/>
            <a:ext cx="1078920" cy="121428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6"/>
          <a:stretch/>
        </p:blipFill>
        <p:spPr>
          <a:xfrm>
            <a:off x="4146120" y="4271040"/>
            <a:ext cx="1072800" cy="107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6898320" cy="5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0055bb"/>
                </a:solidFill>
                <a:latin typeface="Montserrat"/>
              </a:rPr>
              <a:t>Бизнес-процесс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54800" y="1080000"/>
            <a:ext cx="8988120" cy="521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615480" y="1487160"/>
            <a:ext cx="6898320" cy="5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0055bb"/>
                </a:solidFill>
                <a:latin typeface="Montserrat"/>
              </a:rPr>
              <a:t>Схема базы данных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Изображение2 Копия 1 Копия 1" descr=""/>
          <p:cNvPicPr/>
          <p:nvPr/>
        </p:nvPicPr>
        <p:blipFill>
          <a:blip r:embed="rId1"/>
          <a:stretch/>
        </p:blipFill>
        <p:spPr>
          <a:xfrm>
            <a:off x="686880" y="415800"/>
            <a:ext cx="6631560" cy="637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19760" y="143640"/>
            <a:ext cx="6898320" cy="9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0055bb"/>
                </a:solidFill>
                <a:latin typeface="Montserrat"/>
              </a:rPr>
              <a:t>Демонстрация работы приложения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80000" y="1620000"/>
            <a:ext cx="8848800" cy="43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advTm="165000" p14:dur="10"/>
    </mc:Choice>
    <mc:Fallback>
      <p:transition advTm="165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180000" y="1736280"/>
            <a:ext cx="8819640" cy="423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16000" y="1620000"/>
            <a:ext cx="8783640" cy="425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92960" y="1620000"/>
            <a:ext cx="8806680" cy="422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60840" y="1620000"/>
            <a:ext cx="893880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372960" y="1590840"/>
            <a:ext cx="8626680" cy="416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60000" y="1548720"/>
            <a:ext cx="8626680" cy="421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180000" y="1800000"/>
            <a:ext cx="8835840" cy="421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352080" y="1424520"/>
            <a:ext cx="8638920" cy="413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293760" y="1800000"/>
            <a:ext cx="8705160" cy="419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Изображение17" descr=""/>
          <p:cNvPicPr/>
          <p:nvPr/>
        </p:nvPicPr>
        <p:blipFill>
          <a:blip r:embed="rId1"/>
          <a:stretch/>
        </p:blipFill>
        <p:spPr>
          <a:xfrm>
            <a:off x="360000" y="1836720"/>
            <a:ext cx="8278920" cy="454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Изображение18" descr=""/>
          <p:cNvPicPr/>
          <p:nvPr/>
        </p:nvPicPr>
        <p:blipFill>
          <a:blip r:embed="rId1"/>
          <a:stretch/>
        </p:blipFill>
        <p:spPr>
          <a:xfrm>
            <a:off x="369360" y="1802880"/>
            <a:ext cx="8449560" cy="450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80000" y="1800000"/>
            <a:ext cx="8897760" cy="426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113040" y="1620000"/>
            <a:ext cx="888660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80000" y="1671480"/>
            <a:ext cx="8819640" cy="426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360000" y="1167120"/>
            <a:ext cx="7738920" cy="549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80000" y="2160000"/>
            <a:ext cx="8818920" cy="335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80000" y="2340000"/>
            <a:ext cx="8885160" cy="304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180000" y="1742400"/>
            <a:ext cx="8885160" cy="437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627120" y="3105720"/>
            <a:ext cx="6165000" cy="64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0055bb"/>
                </a:solidFill>
                <a:latin typeface="Montserrat"/>
              </a:rPr>
              <a:t>Спасибо за внимание!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</TotalTime>
  <Application>LibreOffice/7.6.7.2$Linux_X86_64 LibreOffice_project/60$Build-2</Application>
  <AppVersion>15.0000</AppVersion>
  <Words>186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:creator>Влад Замахаев</dc:creator>
  <dc:description/>
  <dc:language>ru-RU</dc:language>
  <cp:lastModifiedBy/>
  <dcterms:modified xsi:type="dcterms:W3CDTF">2025-05-29T12:10:24Z</dcterms:modified>
  <cp:revision>66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18</vt:i4>
  </property>
  <property fmtid="{D5CDD505-2E9C-101B-9397-08002B2CF9AE}" pid="4" name="Tfs.IsStoryboard">
    <vt:bool>1</vt:bool>
  </property>
</Properties>
</file>